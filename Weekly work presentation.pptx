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E7227E8-4542-45D0-83C7-D2F1A7D3334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89DB3AE-D2AC-4A2F-8934-966E180F1F9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DD78BFA-2730-4344-8DCA-15FDA478CE1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9F33537-39D2-4D0F-BC0E-45594948964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ADB7139-3523-4866-B442-63F1C46049E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8D1DB7C-C635-4A4B-B988-F748F1C8A87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CCBDD30-5606-4338-B143-70796FA62C2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4C9EC18-6E78-4108-AA28-40E941FE17E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572BDC1-B2C5-4195-8F26-003DFD875C3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C3F651C-07E7-4F7B-90C8-55327EC86C3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645A2C1-BBCF-426A-8CA8-BF7E963E1B8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255600" cy="6857640"/>
          </a:xfrm>
          <a:prstGeom prst="rect">
            <a:avLst/>
          </a:prstGeom>
          <a:solidFill>
            <a:srgbClr val="305B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914400" y="1417320"/>
            <a:ext cx="103323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305B8C"/>
                </a:solidFill>
                <a:effectLst/>
                <a:uFillTx/>
                <a:latin typeface="Calibri"/>
              </a:rPr>
              <a:t>DG Interns Hub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183153"/>
                </a:solidFill>
                <a:effectLst/>
                <a:uFillTx/>
                <a:latin typeface="Calibri"/>
              </a:rPr>
              <a:t>Weekly Work Report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536377"/>
                </a:solidFill>
                <a:effectLst/>
                <a:uFillTx/>
                <a:latin typeface="Calibri"/>
              </a:rPr>
              <a:t>Week 1 | Lab Setup, Linux and Networking Foundations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941760" y="53035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536377"/>
                </a:solidFill>
                <a:effectLst/>
                <a:uFillTx/>
                <a:latin typeface="Calibri"/>
              </a:rPr>
              <a:t>Prepared by Ammar Alzaiem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1"/>
          <p:cNvSpPr/>
          <p:nvPr/>
        </p:nvSpPr>
        <p:spPr>
          <a:xfrm>
            <a:off x="640080" y="4114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83153"/>
                </a:solidFill>
                <a:effectLst/>
                <a:uFillTx/>
                <a:latin typeface="Aptos Display"/>
              </a:rPr>
              <a:t>Week at a Glance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2"/>
          <p:cNvSpPr/>
          <p:nvPr/>
        </p:nvSpPr>
        <p:spPr>
          <a:xfrm>
            <a:off x="676800" y="1078920"/>
            <a:ext cx="10698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36377"/>
                </a:solidFill>
                <a:effectLst/>
                <a:uFillTx/>
                <a:latin typeface="Calibri"/>
              </a:rPr>
              <a:t>A practical week focused on foundations and evidence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3"/>
          <p:cNvSpPr/>
          <p:nvPr/>
        </p:nvSpPr>
        <p:spPr>
          <a:xfrm>
            <a:off x="868680" y="1417320"/>
            <a:ext cx="10515240" cy="47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500"/>
              </a:spcAft>
            </a:pPr>
            <a:r>
              <a:rPr lang="en-US" sz="1900" b="0" u="none" strike="noStrike">
                <a:solidFill>
                  <a:srgbClr val="536377"/>
                </a:solidFill>
                <a:effectLst/>
                <a:uFillTx/>
                <a:latin typeface="Aptos"/>
              </a:rPr>
              <a:t>Completed foundational TryHackMe learning activities and prepared write-ups.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00"/>
              </a:spcAft>
            </a:pPr>
            <a:r>
              <a:rPr lang="en-US" sz="1900" b="0" u="none" strike="noStrike">
                <a:solidFill>
                  <a:srgbClr val="536377"/>
                </a:solidFill>
                <a:effectLst/>
                <a:uFillTx/>
                <a:latin typeface="Aptos"/>
              </a:rPr>
              <a:t>Practised Linux command-line challenges through OverTheWire Bandit levels 0–10.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00"/>
              </a:spcAft>
            </a:pPr>
            <a:r>
              <a:rPr lang="en-US" sz="1900" b="0" u="none" strike="noStrike">
                <a:solidFill>
                  <a:srgbClr val="536377"/>
                </a:solidFill>
                <a:effectLst/>
                <a:uFillTx/>
                <a:latin typeface="Aptos"/>
              </a:rPr>
              <a:t>Worked on Ubuntu users, groups, shared-folder permissions, and 30-command documentation.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00"/>
              </a:spcAft>
            </a:pPr>
            <a:r>
              <a:rPr lang="en-US" sz="1900" b="0" u="none" strike="noStrike">
                <a:solidFill>
                  <a:srgbClr val="536377"/>
                </a:solidFill>
                <a:effectLst/>
                <a:uFillTx/>
                <a:latin typeface="Aptos"/>
              </a:rPr>
              <a:t>Worked on the virtual lab setup, network map, and a LinkedIn progress post.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640080" y="4114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83153"/>
                </a:solidFill>
                <a:effectLst/>
                <a:uFillTx/>
                <a:latin typeface="Aptos Display"/>
              </a:rPr>
              <a:t>1. TryHackMe Rooms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676800" y="1078920"/>
            <a:ext cx="10698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36377"/>
                </a:solidFill>
                <a:effectLst/>
                <a:uFillTx/>
                <a:latin typeface="Calibri"/>
              </a:rPr>
              <a:t>Learning and write-ups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868680" y="1417320"/>
            <a:ext cx="10515240" cy="47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500"/>
              </a:spcAft>
            </a:pPr>
            <a:r>
              <a:rPr lang="en-US" sz="2000" b="0" u="none" strike="noStrike">
                <a:solidFill>
                  <a:srgbClr val="536377"/>
                </a:solidFill>
                <a:effectLst/>
                <a:uFillTx/>
                <a:latin typeface="Aptos"/>
              </a:rPr>
              <a:t>Reviewed beginner networking, Linux, and cybersecurity concepts.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00"/>
              </a:spcAft>
            </a:pPr>
            <a:r>
              <a:rPr lang="en-US" sz="2000" b="0" u="none" strike="noStrike">
                <a:solidFill>
                  <a:srgbClr val="536377"/>
                </a:solidFill>
                <a:effectLst/>
                <a:uFillTx/>
                <a:latin typeface="Aptos"/>
              </a:rPr>
              <a:t>Turned learning into structured notes/write-ups for later revision.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00"/>
              </a:spcAft>
            </a:pPr>
            <a:r>
              <a:rPr lang="en-US" sz="2000" b="0" u="none" strike="noStrike">
                <a:solidFill>
                  <a:srgbClr val="536377"/>
                </a:solidFill>
                <a:effectLst/>
                <a:uFillTx/>
                <a:latin typeface="Aptos"/>
              </a:rPr>
              <a:t>Main takeaway: understanding the concept matters more than collecting room completions.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1"/>
          <p:cNvSpPr/>
          <p:nvPr/>
        </p:nvSpPr>
        <p:spPr>
          <a:xfrm>
            <a:off x="640080" y="4114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83153"/>
                </a:solidFill>
                <a:effectLst/>
                <a:uFillTx/>
                <a:latin typeface="Aptos Display"/>
              </a:rPr>
              <a:t>2. OverTheWire Bandit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2"/>
          <p:cNvSpPr/>
          <p:nvPr/>
        </p:nvSpPr>
        <p:spPr>
          <a:xfrm>
            <a:off x="676800" y="1078920"/>
            <a:ext cx="10698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36377"/>
                </a:solidFill>
                <a:effectLst/>
                <a:uFillTx/>
                <a:latin typeface="Calibri"/>
              </a:rPr>
              <a:t>Levels 0–10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3"/>
          <p:cNvSpPr/>
          <p:nvPr/>
        </p:nvSpPr>
        <p:spPr>
          <a:xfrm>
            <a:off x="868680" y="1417320"/>
            <a:ext cx="10515240" cy="47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500"/>
              </a:spcAft>
            </a:pPr>
            <a:r>
              <a:rPr lang="en-US" sz="2000" b="0" u="none" strike="noStrike">
                <a:solidFill>
                  <a:srgbClr val="536377"/>
                </a:solidFill>
                <a:effectLst/>
                <a:uFillTx/>
                <a:latin typeface="Aptos"/>
              </a:rPr>
              <a:t>Practised connecting to a remote Linux environment and navigating the shell.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00"/>
              </a:spcAft>
            </a:pPr>
            <a:r>
              <a:rPr lang="en-US" sz="2000" b="0" u="none" strike="noStrike">
                <a:solidFill>
                  <a:srgbClr val="536377"/>
                </a:solidFill>
                <a:effectLst/>
                <a:uFillTx/>
                <a:latin typeface="Aptos"/>
              </a:rPr>
              <a:t>Used command-line techniques to inspect files and locate challenge information.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00"/>
              </a:spcAft>
            </a:pPr>
            <a:r>
              <a:rPr lang="en-US" sz="2000" b="0" u="none" strike="noStrike">
                <a:solidFill>
                  <a:srgbClr val="536377"/>
                </a:solidFill>
                <a:effectLst/>
                <a:uFillTx/>
                <a:latin typeface="Aptos"/>
              </a:rPr>
              <a:t>Improved familiarity with the workflow of reading instructions, testing commands, and recording the lesson.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1"/>
          <p:cNvSpPr/>
          <p:nvPr/>
        </p:nvSpPr>
        <p:spPr>
          <a:xfrm>
            <a:off x="640080" y="4114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83153"/>
                </a:solidFill>
                <a:effectLst/>
                <a:uFillTx/>
                <a:latin typeface="Aptos Display"/>
              </a:rPr>
              <a:t>3. Ubuntu Users, Groups &amp; Permissions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676800" y="1078920"/>
            <a:ext cx="10698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36377"/>
                </a:solidFill>
                <a:effectLst/>
                <a:uFillTx/>
                <a:latin typeface="Calibri"/>
              </a:rPr>
              <a:t>Practical system administration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3"/>
          <p:cNvSpPr/>
          <p:nvPr/>
        </p:nvSpPr>
        <p:spPr>
          <a:xfrm>
            <a:off x="868680" y="1417320"/>
            <a:ext cx="10515240" cy="47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500"/>
              </a:spcAft>
            </a:pPr>
            <a:r>
              <a:rPr lang="en-US" sz="1900" b="0" u="none" strike="noStrike">
                <a:solidFill>
                  <a:srgbClr val="536377"/>
                </a:solidFill>
                <a:effectLst/>
                <a:uFillTx/>
                <a:latin typeface="Aptos"/>
              </a:rPr>
              <a:t>Created three user accounts and two groups as part of the lab task.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00"/>
              </a:spcAft>
            </a:pPr>
            <a:r>
              <a:rPr lang="en-US" sz="1900" b="0" u="none" strike="noStrike">
                <a:solidFill>
                  <a:srgbClr val="536377"/>
                </a:solidFill>
                <a:effectLst/>
                <a:uFillTx/>
                <a:latin typeface="Aptos"/>
              </a:rPr>
              <a:t>Worked on a shared directory with permissions intended for the relevant users/groups.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00"/>
              </a:spcAft>
            </a:pPr>
            <a:r>
              <a:rPr lang="en-US" sz="1900" b="0" u="none" strike="noStrike">
                <a:solidFill>
                  <a:srgbClr val="536377"/>
                </a:solidFill>
                <a:effectLst/>
                <a:uFillTx/>
                <a:latin typeface="Aptos"/>
              </a:rPr>
              <a:t>Connected Linux access-control settings to the practical question: who can read, write, or access a resource?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1"/>
          <p:cNvSpPr/>
          <p:nvPr/>
        </p:nvSpPr>
        <p:spPr>
          <a:xfrm>
            <a:off x="640080" y="4114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83153"/>
                </a:solidFill>
                <a:effectLst/>
                <a:uFillTx/>
                <a:latin typeface="Aptos Display"/>
              </a:rPr>
              <a:t>4. Linux Command Reference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676800" y="1078920"/>
            <a:ext cx="10698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36377"/>
                </a:solidFill>
                <a:effectLst/>
                <a:uFillTx/>
                <a:latin typeface="Calibri"/>
              </a:rPr>
              <a:t>30 commands documented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3"/>
          <p:cNvSpPr/>
          <p:nvPr/>
        </p:nvSpPr>
        <p:spPr>
          <a:xfrm>
            <a:off x="868680" y="1417320"/>
            <a:ext cx="10515240" cy="16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500"/>
              </a:spcAft>
            </a:pPr>
            <a:r>
              <a:rPr lang="en-US" sz="2000" b="0" u="none" strike="noStrike">
                <a:solidFill>
                  <a:srgbClr val="536377"/>
                </a:solidFill>
                <a:effectLst/>
                <a:uFillTx/>
                <a:latin typeface="Aptos"/>
              </a:rPr>
              <a:t>Organized commands by purpose and when they are useful.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00"/>
              </a:spcAft>
            </a:pPr>
            <a:r>
              <a:rPr lang="en-US" sz="2000" b="0" u="none" strike="noStrike">
                <a:solidFill>
                  <a:srgbClr val="536377"/>
                </a:solidFill>
                <a:effectLst/>
                <a:uFillTx/>
                <a:latin typeface="Aptos"/>
              </a:rPr>
              <a:t>Built a reference for future labs instead of relying on memorization alone.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00"/>
              </a:spcAft>
            </a:pPr>
            <a:r>
              <a:rPr lang="en-US" sz="2000" b="0" u="none" strike="noStrike">
                <a:solidFill>
                  <a:srgbClr val="536377"/>
                </a:solidFill>
                <a:effectLst/>
                <a:uFillTx/>
                <a:latin typeface="Aptos"/>
              </a:rPr>
              <a:t>Documentation should include actual output only when it has been captured and verified.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1"/>
          <p:cNvSpPr/>
          <p:nvPr/>
        </p:nvSpPr>
        <p:spPr>
          <a:xfrm>
            <a:off x="640080" y="4114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83153"/>
                </a:solidFill>
                <a:effectLst/>
                <a:uFillTx/>
                <a:latin typeface="Aptos Display"/>
              </a:rPr>
              <a:t>5. Virtual Lab &amp; Network Map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676800" y="1078920"/>
            <a:ext cx="10698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36377"/>
                </a:solidFill>
                <a:effectLst/>
                <a:uFillTx/>
                <a:latin typeface="Calibri"/>
              </a:rPr>
              <a:t>Kali Linux • Ubuntu • Windows evaluation VM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3"/>
          <p:cNvSpPr/>
          <p:nvPr/>
        </p:nvSpPr>
        <p:spPr>
          <a:xfrm>
            <a:off x="868680" y="1417320"/>
            <a:ext cx="10515240" cy="47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500"/>
              </a:spcAft>
            </a:pPr>
            <a:r>
              <a:rPr lang="en-US" sz="1900" b="0" u="none" strike="noStrike">
                <a:solidFill>
                  <a:srgbClr val="536377"/>
                </a:solidFill>
                <a:effectLst/>
                <a:uFillTx/>
                <a:latin typeface="Aptos"/>
              </a:rPr>
              <a:t>Worked on placing the VMs on a shared virtual network.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00"/>
              </a:spcAft>
            </a:pPr>
            <a:r>
              <a:rPr lang="en-US" sz="1900" b="0" u="none" strike="noStrike">
                <a:solidFill>
                  <a:srgbClr val="536377"/>
                </a:solidFill>
                <a:effectLst/>
                <a:uFillTx/>
                <a:latin typeface="Aptos"/>
              </a:rPr>
              <a:t>Recorded network details and worked on a draw.io network diagram.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00"/>
              </a:spcAft>
            </a:pPr>
            <a:r>
              <a:rPr lang="en-US" sz="1900" b="0" u="none" strike="noStrike">
                <a:solidFill>
                  <a:srgbClr val="536377"/>
                </a:solidFill>
                <a:effectLst/>
                <a:uFillTx/>
                <a:latin typeface="Aptos"/>
              </a:rPr>
              <a:t>Key check: verify each VM's network mode, IP address, and connectivity before documenting the lab as working.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Box 1"/>
          <p:cNvSpPr/>
          <p:nvPr/>
        </p:nvSpPr>
        <p:spPr>
          <a:xfrm>
            <a:off x="640080" y="4114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83153"/>
                </a:solidFill>
                <a:effectLst/>
                <a:uFillTx/>
                <a:latin typeface="Aptos Display"/>
              </a:rPr>
              <a:t>Documentation &amp; Communication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2"/>
          <p:cNvSpPr/>
          <p:nvPr/>
        </p:nvSpPr>
        <p:spPr>
          <a:xfrm>
            <a:off x="676800" y="1078920"/>
            <a:ext cx="10698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36377"/>
                </a:solidFill>
                <a:effectLst/>
                <a:uFillTx/>
                <a:latin typeface="Calibri"/>
              </a:rPr>
              <a:t>Turning practice into portfolio evidence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3"/>
          <p:cNvSpPr/>
          <p:nvPr/>
        </p:nvSpPr>
        <p:spPr>
          <a:xfrm>
            <a:off x="868680" y="1417320"/>
            <a:ext cx="10515240" cy="47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500"/>
              </a:spcAft>
            </a:pPr>
            <a:r>
              <a:rPr lang="en-US" sz="2000" b="0" u="none" strike="noStrike">
                <a:solidFill>
                  <a:srgbClr val="536377"/>
                </a:solidFill>
                <a:effectLst/>
                <a:uFillTx/>
                <a:latin typeface="Aptos"/>
              </a:rPr>
              <a:t>Prepared separate notes/write-ups for learning tasks.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00"/>
              </a:spcAft>
            </a:pPr>
            <a:r>
              <a:rPr lang="en-US" sz="2000" b="0" u="none" strike="noStrike">
                <a:solidFill>
                  <a:srgbClr val="536377"/>
                </a:solidFill>
                <a:effectLst/>
                <a:uFillTx/>
                <a:latin typeface="Aptos"/>
              </a:rPr>
              <a:t>Created a 30-command Linux reference and lab documentation.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00"/>
              </a:spcAft>
            </a:pPr>
            <a:r>
              <a:rPr lang="en-US" sz="2000" b="0" u="none" strike="noStrike">
                <a:solidFill>
                  <a:srgbClr val="536377"/>
                </a:solidFill>
                <a:effectLst/>
                <a:uFillTx/>
                <a:latin typeface="Aptos"/>
              </a:rPr>
              <a:t>Prepared a LinkedIn post sharing weekly progress and key takeaways.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Box 1"/>
          <p:cNvSpPr/>
          <p:nvPr/>
        </p:nvSpPr>
        <p:spPr>
          <a:xfrm>
            <a:off x="640080" y="411480"/>
            <a:ext cx="284328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83153"/>
                </a:solidFill>
                <a:effectLst/>
                <a:uFillTx/>
                <a:latin typeface="Aptos Display"/>
              </a:rPr>
              <a:t>Skills Practiced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2"/>
          <p:cNvSpPr/>
          <p:nvPr/>
        </p:nvSpPr>
        <p:spPr>
          <a:xfrm>
            <a:off x="868680" y="1417320"/>
            <a:ext cx="10515240" cy="47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500"/>
              </a:spcAft>
            </a:pPr>
            <a:r>
              <a:rPr lang="en-US" sz="2100" b="0" u="none" strike="noStrike">
                <a:solidFill>
                  <a:srgbClr val="536377"/>
                </a:solidFill>
                <a:effectLst/>
                <a:uFillTx/>
                <a:latin typeface="Aptos"/>
              </a:rPr>
              <a:t>Linux shell, files, users, groups, and permissions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00"/>
              </a:spcAft>
            </a:pPr>
            <a:r>
              <a:rPr lang="en-US" sz="2100" b="0" u="none" strike="noStrike">
                <a:solidFill>
                  <a:srgbClr val="536377"/>
                </a:solidFill>
                <a:effectLst/>
                <a:uFillTx/>
                <a:latin typeface="Aptos"/>
              </a:rPr>
              <a:t>Networking concepts and virtual-machine configuration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00"/>
              </a:spcAft>
            </a:pPr>
            <a:r>
              <a:rPr lang="en-US" sz="2100" b="0" u="none" strike="noStrike">
                <a:solidFill>
                  <a:srgbClr val="536377"/>
                </a:solidFill>
                <a:effectLst/>
                <a:uFillTx/>
                <a:latin typeface="Aptos"/>
              </a:rPr>
              <a:t>Guided problem-solving and basic troubleshooting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00"/>
              </a:spcAft>
            </a:pPr>
            <a:r>
              <a:rPr lang="en-US" sz="2100" b="0" u="none" strike="noStrike">
                <a:solidFill>
                  <a:srgbClr val="536377"/>
                </a:solidFill>
                <a:effectLst/>
                <a:uFillTx/>
                <a:latin typeface="Aptos"/>
              </a:rPr>
              <a:t>Technical writing, evidence collection, and professional communication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1"/>
          <p:cNvSpPr/>
          <p:nvPr/>
        </p:nvSpPr>
        <p:spPr>
          <a:xfrm>
            <a:off x="640080" y="4114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83153"/>
                </a:solidFill>
                <a:effectLst/>
                <a:uFillTx/>
                <a:latin typeface="Aptos Display"/>
              </a:rPr>
              <a:t>Challenges &amp; Lessons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2"/>
          <p:cNvSpPr/>
          <p:nvPr/>
        </p:nvSpPr>
        <p:spPr>
          <a:xfrm>
            <a:off x="868680" y="1417320"/>
            <a:ext cx="10515240" cy="47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500"/>
              </a:spcAft>
            </a:pPr>
            <a:r>
              <a:rPr lang="en-US" sz="2000" b="0" u="none" strike="noStrike">
                <a:solidFill>
                  <a:srgbClr val="536377"/>
                </a:solidFill>
                <a:effectLst/>
                <a:uFillTx/>
                <a:latin typeface="Aptos"/>
              </a:rPr>
              <a:t>Lab setup and networking need systematic verification, not assumptions.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00"/>
              </a:spcAft>
            </a:pPr>
            <a:r>
              <a:rPr lang="en-US" sz="2000" b="0" u="none" strike="noStrike">
                <a:solidFill>
                  <a:srgbClr val="536377"/>
                </a:solidFill>
                <a:effectLst/>
                <a:uFillTx/>
                <a:latin typeface="Aptos"/>
              </a:rPr>
              <a:t>Permissions should be checked from the perspective of the intended users and groups.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00"/>
              </a:spcAft>
            </a:pPr>
            <a:r>
              <a:rPr lang="en-US" sz="2000" b="0" u="none" strike="noStrike">
                <a:solidFill>
                  <a:srgbClr val="536377"/>
                </a:solidFill>
                <a:effectLst/>
                <a:uFillTx/>
                <a:latin typeface="Aptos"/>
              </a:rPr>
              <a:t>Clear notes make a lab easier to reproduce, review, and explain.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LibreOffice/26.2.6.3$Linux_X86_64 LibreOffice_project/620$Build-3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2026-10-22T09:32:10Z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